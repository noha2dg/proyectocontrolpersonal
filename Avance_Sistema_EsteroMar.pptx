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5B7280"/>
                </a:solidFill>
                <a:latin typeface="Calibri"/>
              </a:defRPr>
            </a:pPr>
            <a:r>
              <a:rPr lang="es-GT" sz="1300" b="0" i="0" u="none" strike="noStrike">
                <a:solidFill>
                  <a:srgbClr val="5B7280"/>
                </a:solidFill>
                <a:latin typeface="Calibri"/>
              </a:rPr>
              <a:t>Costo anual comparado (USD)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 anual (USD)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FC5-477A-B6B5-34E63350E84A}"/>
              </c:ext>
            </c:extLst>
          </c:dPt>
          <c:dPt>
            <c:idx val="1"/>
            <c:invertIfNegative val="0"/>
            <c:bubble3D val="0"/>
            <c:spPr>
              <a:solidFill>
                <a:srgbClr val="1E8E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FC5-477A-B6B5-34E63350E84A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6323C"/>
                    </a:solidFill>
                    <a:latin typeface="Calibri"/>
                  </a:defRPr>
                </a:pPr>
                <a:endParaRPr lang="es-G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Sodisa</c:v>
                </c:pt>
                <c:pt idx="1">
                  <c:v>Sistema propio (est.)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46800</c:v>
                </c:pt>
                <c:pt idx="1">
                  <c:v>420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FC5-477A-B6B5-34E63350E8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6323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20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4F7F9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7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519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el mensaje central: ya tenemos un sistema propio en operacion que cubre areas de la planta, y es la alternativa real a Sodisa. Hoy mostramos el avance, el costo/beneficio y la vision de ERP.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el numero: $42,900 ya pagados (11 x $3,900) y sin un sistema en produccion que lo respalde. A 12 meses seria $46,800. El punto no es atacar, es que el gasto no se traduce en operacion.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grafica lo dice sola: la barra de Sodisa contra una casi invisible del sistema propio. Aclarar que el costo de servidor es estimado y se ajusta con la factura real, pero el orden de magnitud no cambia: ~99% menos.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decision: consolidar lo propio y planificar el retiro de Sodisa. Los cuatro pasos son concretos y de bajo riesgo. Pedir el ok para fijar fecha de corte de Sodisa y recursos para Fase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0E5C7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3291840"/>
            <a:ext cx="3108960" cy="3108960"/>
          </a:xfrm>
          <a:prstGeom prst="ellipse">
            <a:avLst/>
          </a:prstGeom>
          <a:solidFill>
            <a:srgbClr val="2AA198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4754880"/>
            <a:ext cx="1463040" cy="1463040"/>
          </a:xfrm>
          <a:prstGeom prst="ellipse">
            <a:avLst/>
          </a:prstGeom>
          <a:solidFill>
            <a:srgbClr val="E9B44C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AA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PRESENTACION EJECUTIVA  ·  JULIO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Gestion de Planta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Avance del proyecto y ruta hacia un ERP propio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611880"/>
            <a:ext cx="3291840" cy="0"/>
          </a:xfrm>
          <a:prstGeom prst="line">
            <a:avLst/>
          </a:prstGeom>
          <a:noFill/>
          <a:ln w="31750">
            <a:solidFill>
              <a:srgbClr val="E9B4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 en casa, en operacion real.  </a:t>
            </a:r>
            <a:r>
              <a:rPr lang="en-US" sz="16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a Sodisa.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Oropsa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punto en una lamina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Oropsa ya cuenta con un sistema propio, en operacion, que cubre areas clave de la planta (RRHH, control de asistencia, produccion/destajo y catalogos). Se desarrollo internamente y corre a una fraccion minima del costo de Sodisa, que tras 11 meses y $42,900 pagados aun no cumple lo prometido.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30632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$42,900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pagado a Sodisa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 meses x $3,900)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64992" y="269748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64992" y="30632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5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47872" y="3977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modulos propios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en operacion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81344" y="269748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81344" y="30632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~99%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364224" y="3977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costo mensual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Sodisa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97696" y="269748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97696" y="30632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180576" y="3977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 externa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vision ERP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074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Recomendacion: consolidar el sistema propio y planificar el retiro de Sodisa.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Oropsa  ·  Sistema de Gestion de Planta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Sodisa: 11 meses, sin cumplir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0" cy="3977640"/>
          </a:xfrm>
          <a:prstGeom prst="roundRect">
            <a:avLst>
              <a:gd name="adj" fmla="val 2299"/>
            </a:avLst>
          </a:prstGeom>
          <a:solidFill>
            <a:srgbClr val="0B2A45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A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 YA REALIZADA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$42,900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$3,900 / mes  x  11 meses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3840480"/>
            <a:ext cx="3749040" cy="0"/>
          </a:xfrm>
          <a:prstGeom prst="line">
            <a:avLst/>
          </a:prstGeom>
          <a:noFill/>
          <a:ln w="12700">
            <a:solidFill>
              <a:srgbClr val="3552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$46,800</a:t>
            </a:r>
            <a:r>
              <a:rPr lang="en-US" sz="1500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costo proyectado a 12 meses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7091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sistema en produccion que respalde ese gasto.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40680" y="1737360"/>
            <a:ext cx="62179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50992" y="2002536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5650992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72200" y="1865376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funciona como se prometio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72200" y="2176272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casi un ano, la operacion sigue sin apoyarse en la herramienta.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40680" y="2724912"/>
            <a:ext cx="62179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50992" y="2990088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5650992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72200" y="2852928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fijo elevado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72200" y="3163824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$3,900 mensuales continuos, independientemente del avance real.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40680" y="3712464"/>
            <a:ext cx="62179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50992" y="39776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5650992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172200" y="38404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un tercero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172200" y="4151376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Datos, tiempos y prioridades fuera del control de Oropsa.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40680" y="4700016"/>
            <a:ext cx="621792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50992" y="4965192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5650992" y="4965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172200" y="4828032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cobertura completa de areas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172200" y="51389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 RRHH, destajo y catalogos como ya lo hace el sistema propio.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Oropsa  ·  Sistema de Gestion de Planta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sistema propio, ya en operacion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 web moderna, desarrollada internamente con asistencia de IA (Claude Code), que hoy da servicio a operaciones reales de la planta. Los datos y el codigo son propiedad de Oropsa.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97480" cy="27889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594360" cy="594360"/>
          </a:xfrm>
          <a:prstGeom prst="ellipse">
            <a:avLst/>
          </a:prstGeom>
          <a:solidFill>
            <a:srgbClr val="0E5C7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produccion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4672" y="3703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prototipo: se usa a diario en RRHH y produccion.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64992" y="2286000"/>
            <a:ext cx="2697480" cy="27889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9312" y="25603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21024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Multi-modulo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21024" y="3703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modulos cubriendo varias areas bajo un mismo sistema.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81344" y="2286000"/>
            <a:ext cx="2697480" cy="27889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55664" y="2560320"/>
            <a:ext cx="594360" cy="594360"/>
          </a:xfrm>
          <a:prstGeom prst="ellipse">
            <a:avLst/>
          </a:prstGeom>
          <a:solidFill>
            <a:srgbClr val="2AA198"/>
          </a:solidFill>
          <a:ln/>
        </p:spPr>
      </p:sp>
      <p:sp>
        <p:nvSpPr>
          <p:cNvPr id="17" name="Text 15"/>
          <p:cNvSpPr/>
          <p:nvPr/>
        </p:nvSpPr>
        <p:spPr>
          <a:xfrm>
            <a:off x="6455664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37376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Seguro por rol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37376" y="3703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roles y permisos granulares por modulo y accion.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997696" y="2286000"/>
            <a:ext cx="2697480" cy="27889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72016" y="2560320"/>
            <a:ext cx="594360" cy="59436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22" name="Text 20"/>
          <p:cNvSpPr/>
          <p:nvPr/>
        </p:nvSpPr>
        <p:spPr>
          <a:xfrm>
            <a:off x="9272016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53728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 minimo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253728" y="3703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de bajo costo; sin licencias por usuario.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lo construido:  </a:t>
            </a:r>
            <a:r>
              <a:rPr lang="en-US" sz="14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servicios de API REST  ·  ~21 pantallas  ·  ~8,800 lineas de codigo propio.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Oropsa  ·  Sistema de Gestion de Planta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Areas cubiertas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97480" cy="41148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2697480" cy="777240"/>
          </a:xfrm>
          <a:prstGeom prst="roundRect">
            <a:avLst>
              <a:gd name="adj" fmla="val 10588"/>
            </a:avLst>
          </a:prstGeom>
          <a:solidFill>
            <a:srgbClr val="0E5C7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2697480" cy="320040"/>
          </a:xfrm>
          <a:prstGeom prst="rect">
            <a:avLst/>
          </a:prstGeom>
          <a:solidFill>
            <a:srgbClr val="0E5C7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813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Humanos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242316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Empleados: altas, bajas, reactivacion, fotos y DPI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entradas / salidas (kiosco)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laborales y tipos de permiso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y uniformes por empleado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64992" y="1463040"/>
            <a:ext cx="2697480" cy="41148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64992" y="1463040"/>
            <a:ext cx="2697480" cy="777240"/>
          </a:xfrm>
          <a:prstGeom prst="roundRect">
            <a:avLst>
              <a:gd name="adj" fmla="val 10588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3364992" y="1920240"/>
            <a:ext cx="269748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14813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Produccion / Destajo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21024" y="242316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 prima y recepcion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Pesaje por persona (destajo)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Lotes, termos y reportes de produccion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Planificacion y transferencias entre areas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1344" y="1463040"/>
            <a:ext cx="2697480" cy="41148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1344" y="1463040"/>
            <a:ext cx="2697480" cy="777240"/>
          </a:xfrm>
          <a:prstGeom prst="roundRect">
            <a:avLst>
              <a:gd name="adj" fmla="val 10588"/>
            </a:avLst>
          </a:prstGeom>
          <a:solidFill>
            <a:srgbClr val="2AA19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1344" y="1920240"/>
            <a:ext cx="2697480" cy="320040"/>
          </a:xfrm>
          <a:prstGeom prst="rect">
            <a:avLst/>
          </a:prstGeom>
          <a:solidFill>
            <a:srgbClr val="2AA198"/>
          </a:solidFill>
          <a:ln/>
        </p:spPr>
      </p:sp>
      <p:sp>
        <p:nvSpPr>
          <p:cNvPr id="17" name="Text 15"/>
          <p:cNvSpPr/>
          <p:nvPr/>
        </p:nvSpPr>
        <p:spPr>
          <a:xfrm>
            <a:off x="6364224" y="14813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Comercial / Catalogos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37376" y="242316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y subclientes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de produccion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Presentaciones, tallas y empaques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Fincas y piscinas / ciclos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97696" y="1463040"/>
            <a:ext cx="2697480" cy="411480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97696" y="1463040"/>
            <a:ext cx="2697480" cy="777240"/>
          </a:xfrm>
          <a:prstGeom prst="roundRect">
            <a:avLst>
              <a:gd name="adj" fmla="val 10588"/>
            </a:avLst>
          </a:prstGeom>
          <a:solidFill>
            <a:srgbClr val="E9B44C"/>
          </a:solidFill>
          <a:ln/>
        </p:spPr>
      </p:sp>
      <p:sp>
        <p:nvSpPr>
          <p:cNvPr id="21" name="Shape 19"/>
          <p:cNvSpPr/>
          <p:nvPr/>
        </p:nvSpPr>
        <p:spPr>
          <a:xfrm>
            <a:off x="8997696" y="1920240"/>
            <a:ext cx="2697480" cy="320040"/>
          </a:xfrm>
          <a:prstGeom prst="rect">
            <a:avLst/>
          </a:prstGeom>
          <a:solidFill>
            <a:srgbClr val="E9B44C"/>
          </a:solidFill>
          <a:ln/>
        </p:spPr>
      </p:sp>
      <p:sp>
        <p:nvSpPr>
          <p:cNvPr id="22" name="Text 20"/>
          <p:cNvSpPr/>
          <p:nvPr/>
        </p:nvSpPr>
        <p:spPr>
          <a:xfrm>
            <a:off x="9180576" y="148132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253728" y="2423160"/>
            <a:ext cx="2240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con permisos granulares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Autenticacion (login) y roles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areas de planta</a:t>
            </a:r>
            <a:endParaRPr lang="en-US" sz="1250" dirty="0"/>
          </a:p>
          <a:p>
            <a:pPr marL="152400" indent="-1524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reportes y tableros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area se apoya en un unico sistema, con datos centralizados de Oropsa.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Oropsa  ·  Sistema de Gestion de Planta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Servidores y tecnologia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315200" cy="27889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mensual (est.)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C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Railway (hosting)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Aplicacion web (backend Node + frontend React) en un solo servicio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$20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 MySQL propio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datos de planta (kronos.esteromar.app)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5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 existente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Dominio / 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y conectividad (esteromar.app)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$15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6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estimado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5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de operar todo el sistema propio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 $35 / 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343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Cifras de servidor estimadas. Ajustar con la factura real de Railway/servidor. El desarrollo se realiza en casa con IA (Claude Code), sin costo de licencia por usuario.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8183880" y="1463040"/>
            <a:ext cx="3456432" cy="4160520"/>
          </a:xfrm>
          <a:prstGeom prst="roundRect">
            <a:avLst>
              <a:gd name="adj" fmla="val 2381"/>
            </a:avLst>
          </a:prstGeom>
          <a:solidFill>
            <a:srgbClr val="0B2A45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4" name="Text 4"/>
          <p:cNvSpPr/>
          <p:nvPr/>
        </p:nvSpPr>
        <p:spPr>
          <a:xfrm>
            <a:off x="8458200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AA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TECNOLOGICO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58200" y="2148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458200" y="23865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458200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58200" y="30723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45820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458200" y="37581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Prisma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458200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458200" y="44439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roles y permisos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458200" y="4892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458200" y="51297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abierta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Oropsa  ·  Sistema de Gestion de Planta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/ BENEFICIO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Sodisa vs. sistema propio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60020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178040" y="2011680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0" y="17647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Sodisa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0" y="20208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$46,800 / ano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77240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$3,900 x 12 meses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903720" y="297180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78040" y="3383280"/>
            <a:ext cx="411480" cy="411480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0" y="31363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propio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0" y="33924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~$420 / ano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772400" y="3886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~$35 x 12 meses (est.)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03720" y="434340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178040" y="4754880"/>
            <a:ext cx="411480" cy="411480"/>
          </a:xfrm>
          <a:prstGeom prst="ellipse">
            <a:avLst/>
          </a:prstGeom>
          <a:solidFill>
            <a:srgbClr val="0E5C7A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0" y="45079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anual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772400" y="47640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5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~$46,380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7772400" y="5257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reduccion de ~99%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Oropsa  ·  Sistema de Gestion de Planta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AA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sistema de planta a ERP propio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D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es cubrir todas las areas bajo un unico sistema y sumar una capa de integracion que permita conectar con cualquier sistema externo (SAP, contabilidad, basculas, etc.).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0" y="2514600"/>
            <a:ext cx="3044952" cy="1371600"/>
          </a:xfrm>
          <a:prstGeom prst="roundRect">
            <a:avLst>
              <a:gd name="adj" fmla="val 6667"/>
            </a:avLst>
          </a:prstGeom>
          <a:solidFill>
            <a:srgbClr val="2AA198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0" y="265176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3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 Oropsa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0" y="3127248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B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codigo propios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97280" y="233172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0E5C7A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3317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RRHH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9776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0E5C7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97764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778240" y="233172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0E5C7A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0" y="233172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/ Bodega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78240" y="39776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0E5C7A"/>
          </a:solidFill>
          <a:ln/>
        </p:spPr>
      </p:sp>
      <p:sp>
        <p:nvSpPr>
          <p:cNvPr id="15" name="Text 13"/>
          <p:cNvSpPr/>
          <p:nvPr/>
        </p:nvSpPr>
        <p:spPr>
          <a:xfrm>
            <a:off x="8778240" y="397764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/ Finanzas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29000" y="2788920"/>
            <a:ext cx="1170432" cy="0"/>
          </a:xfrm>
          <a:prstGeom prst="line">
            <a:avLst/>
          </a:prstGeom>
          <a:noFill/>
          <a:ln w="25400">
            <a:solidFill>
              <a:srgbClr val="3E637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4434840"/>
            <a:ext cx="1170432" cy="0"/>
          </a:xfrm>
          <a:prstGeom prst="line">
            <a:avLst/>
          </a:prstGeom>
          <a:noFill/>
          <a:ln w="25400">
            <a:solidFill>
              <a:srgbClr val="3E637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16952" y="2788920"/>
            <a:ext cx="1170432" cy="0"/>
          </a:xfrm>
          <a:prstGeom prst="line">
            <a:avLst/>
          </a:prstGeom>
          <a:noFill/>
          <a:ln w="25400">
            <a:solidFill>
              <a:srgbClr val="3E637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16952" y="4434840"/>
            <a:ext cx="1170432" cy="0"/>
          </a:xfrm>
          <a:prstGeom prst="line">
            <a:avLst/>
          </a:prstGeom>
          <a:noFill/>
          <a:ln w="25400">
            <a:solidFill>
              <a:srgbClr val="3E637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08960" y="5074920"/>
            <a:ext cx="5971032" cy="1051560"/>
          </a:xfrm>
          <a:prstGeom prst="roundRect">
            <a:avLst>
              <a:gd name="adj" fmla="val 6957"/>
            </a:avLst>
          </a:prstGeom>
          <a:solidFill>
            <a:srgbClr val="E9B44C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08960" y="5120640"/>
            <a:ext cx="5971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2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integracion (API REST)
</a:t>
            </a:r>
            <a:r>
              <a:rPr lang="en-US" sz="1250" dirty="0">
                <a:solidFill>
                  <a:srgbClr val="4A3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con SAP y otros sistemas externos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89904" y="3886200"/>
            <a:ext cx="0" cy="1188720"/>
          </a:xfrm>
          <a:prstGeom prst="line">
            <a:avLst/>
          </a:prstGeom>
          <a:noFill/>
          <a:ln w="25400">
            <a:solidFill>
              <a:srgbClr val="3E63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Oropsa  ·  Sistema de Gestion de Planta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llegamos al ERP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97480" cy="41605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83080"/>
            <a:ext cx="566928" cy="566928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1122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OPERACION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4672" y="2651760"/>
            <a:ext cx="2185416" cy="0"/>
          </a:xfrm>
          <a:prstGeom prst="line">
            <a:avLst/>
          </a:prstGeom>
          <a:noFill/>
          <a:ln w="12700">
            <a:solidFill>
              <a:srgbClr val="E1E8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88920"/>
            <a:ext cx="2194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RRHH y control de asistencia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Destajo y produccion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Catalogos y pedidos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Usuarios, roles y permisos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64992" y="1508760"/>
            <a:ext cx="2697480" cy="41605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21024" y="17830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621024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25112" y="1783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25112" y="21122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21024" y="2651760"/>
            <a:ext cx="2185416" cy="0"/>
          </a:xfrm>
          <a:prstGeom prst="line">
            <a:avLst/>
          </a:prstGeom>
          <a:noFill/>
          <a:ln w="12700">
            <a:solidFill>
              <a:srgbClr val="E1E8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9312" y="2788920"/>
            <a:ext cx="2194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Bodega de producto terminado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Congelacion y masterizado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Remisiones y kardex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gerenciales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81344" y="1508760"/>
            <a:ext cx="2697480" cy="41605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37376" y="1783080"/>
            <a:ext cx="566928" cy="566928"/>
          </a:xfrm>
          <a:prstGeom prst="ellipse">
            <a:avLst/>
          </a:prstGeom>
          <a:solidFill>
            <a:srgbClr val="0E5C7A"/>
          </a:solidFill>
          <a:ln/>
        </p:spPr>
      </p:sp>
      <p:sp>
        <p:nvSpPr>
          <p:cNvPr id="20" name="Text 18"/>
          <p:cNvSpPr/>
          <p:nvPr/>
        </p:nvSpPr>
        <p:spPr>
          <a:xfrm>
            <a:off x="6437376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41464" y="1783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41464" y="21122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E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37376" y="2651760"/>
            <a:ext cx="2185416" cy="0"/>
          </a:xfrm>
          <a:prstGeom prst="line">
            <a:avLst/>
          </a:prstGeom>
          <a:noFill/>
          <a:ln w="12700">
            <a:solidFill>
              <a:srgbClr val="E1E8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55664" y="2788920"/>
            <a:ext cx="2194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Inventarios y costos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 financiero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ejecutivo (BI)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por area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97696" y="1508760"/>
            <a:ext cx="2697480" cy="416052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2A45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253728" y="1783080"/>
            <a:ext cx="566928" cy="566928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27" name="Text 25"/>
          <p:cNvSpPr/>
          <p:nvPr/>
        </p:nvSpPr>
        <p:spPr>
          <a:xfrm>
            <a:off x="9253728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957816" y="1783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4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957816" y="21122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253728" y="2651760"/>
            <a:ext cx="2185416" cy="0"/>
          </a:xfrm>
          <a:prstGeom prst="line">
            <a:avLst/>
          </a:prstGeom>
          <a:noFill/>
          <a:ln w="12700">
            <a:solidFill>
              <a:srgbClr val="E1E8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72016" y="2788920"/>
            <a:ext cx="2194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integral consolidado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de integracion (API)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 con SAP</a:t>
            </a:r>
            <a:endParaRPr lang="en-US" sz="120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6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externos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Oropsa  ·  Sistema de Gestion de Planta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4023360"/>
            <a:ext cx="4572000" cy="4572000"/>
          </a:xfrm>
          <a:prstGeom prst="ellipse">
            <a:avLst/>
          </a:prstGeom>
          <a:solidFill>
            <a:srgbClr val="0E5C7A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1280160"/>
            <a:ext cx="3474720" cy="3474720"/>
          </a:xfrm>
          <a:prstGeom prst="ellipse">
            <a:avLst/>
          </a:prstGeom>
          <a:solidFill>
            <a:srgbClr val="2AA198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AA1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280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Consolidar lo propio, retirar Sodisa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12395A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898648"/>
            <a:ext cx="502920" cy="50292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27157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 el ahorro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91640" y="311810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la factura real de Sodisa contra el costo del sistema propio.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55080" y="251460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12395A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2898648"/>
            <a:ext cx="502920" cy="50292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898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269480" y="27157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salida de Sodisa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269480" y="311810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fecha de corte y evitar seguir acumulando $3,900/mes.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397764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12395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4361688"/>
            <a:ext cx="502920" cy="50292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91640" y="41788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Completar Fase 2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91640" y="458114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bodega de PT y reportes gerenciales para cobertura total.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55080" y="397764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12395A"/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0" y="4361688"/>
            <a:ext cx="502920" cy="502920"/>
          </a:xfrm>
          <a:prstGeom prst="ellipse">
            <a:avLst/>
          </a:prstGeom>
          <a:solidFill>
            <a:srgbClr val="E9B44C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269480" y="417880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Habilitar integracion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269480" y="458114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la capa de API para conectar con SAP a futuro.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E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propio, en operacion, a ~1% del costo mensual de Sodisa  —  </a:t>
            </a:r>
            <a:r>
              <a:rPr lang="en-US" sz="1500" b="1" i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 futuro de ERP.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1180</Words>
  <Application>Microsoft Office PowerPoint</Application>
  <PresentationFormat>Panorámica</PresentationFormat>
  <Paragraphs>205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 del Sistema de Gestion - Estero Mar</dc:title>
  <dc:subject>PptxGenJS Presentation</dc:subject>
  <dc:creator>Estero Mar - Sistemas</dc:creator>
  <cp:lastModifiedBy>Oropsa</cp:lastModifiedBy>
  <cp:revision>2</cp:revision>
  <dcterms:created xsi:type="dcterms:W3CDTF">2026-07-02T04:48:29Z</dcterms:created>
  <dcterms:modified xsi:type="dcterms:W3CDTF">2026-07-02T04:53:31Z</dcterms:modified>
</cp:coreProperties>
</file>